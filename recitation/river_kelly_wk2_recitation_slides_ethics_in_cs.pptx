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9146341c4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9146341c4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9146341c4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9146341c4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9146341c44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9146341c44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94965dc8d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94965dc8d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3.jpg"/><Relationship Id="rId5"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latimes.com/politics/la-na-pol-google-search-bias-elections-20190322-story.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422850" y="233125"/>
            <a:ext cx="34644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Big Tech</a:t>
            </a:r>
            <a:endParaRPr b="1" sz="1800"/>
          </a:p>
        </p:txBody>
      </p:sp>
      <p:sp>
        <p:nvSpPr>
          <p:cNvPr id="55" name="Google Shape;55;p13"/>
          <p:cNvSpPr txBox="1"/>
          <p:nvPr/>
        </p:nvSpPr>
        <p:spPr>
          <a:xfrm>
            <a:off x="422850" y="644850"/>
            <a:ext cx="6635100" cy="340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99.4% of mobile phones in the US are made by either Apple or Google [1]</a:t>
            </a:r>
            <a:endParaRPr/>
          </a:p>
        </p:txBody>
      </p:sp>
      <p:sp>
        <p:nvSpPr>
          <p:cNvPr id="56" name="Google Shape;56;p13"/>
          <p:cNvSpPr txBox="1"/>
          <p:nvPr/>
        </p:nvSpPr>
        <p:spPr>
          <a:xfrm>
            <a:off x="453150" y="985050"/>
            <a:ext cx="5831400" cy="608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Google</a:t>
            </a:r>
            <a:r>
              <a:rPr lang="en"/>
              <a:t> </a:t>
            </a:r>
            <a:r>
              <a:rPr lang="en"/>
              <a:t>receives</a:t>
            </a:r>
            <a:r>
              <a:rPr lang="en"/>
              <a:t> 83% of all search engine </a:t>
            </a:r>
            <a:r>
              <a:rPr lang="en"/>
              <a:t>queries</a:t>
            </a:r>
            <a:r>
              <a:rPr lang="en"/>
              <a:t> across all platforms, browsers and devices [2]</a:t>
            </a:r>
            <a:endParaRPr/>
          </a:p>
        </p:txBody>
      </p:sp>
      <p:pic>
        <p:nvPicPr>
          <p:cNvPr id="57" name="Google Shape;57;p13"/>
          <p:cNvPicPr preferRelativeResize="0"/>
          <p:nvPr/>
        </p:nvPicPr>
        <p:blipFill>
          <a:blip r:embed="rId3">
            <a:alphaModFix/>
          </a:blip>
          <a:stretch>
            <a:fillRect/>
          </a:stretch>
        </p:blipFill>
        <p:spPr>
          <a:xfrm>
            <a:off x="359150" y="2219925"/>
            <a:ext cx="2797376" cy="1398700"/>
          </a:xfrm>
          <a:prstGeom prst="rect">
            <a:avLst/>
          </a:prstGeom>
          <a:noFill/>
          <a:ln>
            <a:noFill/>
          </a:ln>
        </p:spPr>
      </p:pic>
      <p:pic>
        <p:nvPicPr>
          <p:cNvPr id="58" name="Google Shape;58;p13"/>
          <p:cNvPicPr preferRelativeResize="0"/>
          <p:nvPr/>
        </p:nvPicPr>
        <p:blipFill>
          <a:blip r:embed="rId4">
            <a:alphaModFix/>
          </a:blip>
          <a:stretch>
            <a:fillRect/>
          </a:stretch>
        </p:blipFill>
        <p:spPr>
          <a:xfrm>
            <a:off x="4709250" y="1384125"/>
            <a:ext cx="4273601" cy="3182801"/>
          </a:xfrm>
          <a:prstGeom prst="rect">
            <a:avLst/>
          </a:prstGeom>
          <a:noFill/>
          <a:ln>
            <a:noFill/>
          </a:ln>
        </p:spPr>
      </p:pic>
      <p:sp>
        <p:nvSpPr>
          <p:cNvPr id="59" name="Google Shape;59;p13"/>
          <p:cNvSpPr txBox="1"/>
          <p:nvPr/>
        </p:nvSpPr>
        <p:spPr>
          <a:xfrm>
            <a:off x="453150" y="1593150"/>
            <a:ext cx="4315200" cy="608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Twitter is known for being the center for public </a:t>
            </a:r>
            <a:r>
              <a:rPr lang="en"/>
              <a:t>discourse</a:t>
            </a:r>
            <a:endParaRPr/>
          </a:p>
        </p:txBody>
      </p:sp>
      <p:pic>
        <p:nvPicPr>
          <p:cNvPr id="60" name="Google Shape;60;p13"/>
          <p:cNvPicPr preferRelativeResize="0"/>
          <p:nvPr/>
        </p:nvPicPr>
        <p:blipFill>
          <a:blip r:embed="rId5">
            <a:alphaModFix/>
          </a:blip>
          <a:stretch>
            <a:fillRect/>
          </a:stretch>
        </p:blipFill>
        <p:spPr>
          <a:xfrm>
            <a:off x="1488200" y="3509548"/>
            <a:ext cx="2368774" cy="1330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1000"/>
                                        <p:tgtEl>
                                          <p:spTgt spid="55"/>
                                        </p:tgtEl>
                                      </p:cBhvr>
                                    </p:animEffect>
                                  </p:childTnLst>
                                </p:cTn>
                              </p:par>
                              <p:par>
                                <p:cTn fill="hold" nodeType="withEffect" presetClass="entr" presetID="10" presetSubtype="0">
                                  <p:stCondLst>
                                    <p:cond delay="0"/>
                                  </p:stCondLst>
                                  <p:childTnLst>
                                    <p:set>
                                      <p:cBhvr>
                                        <p:cTn dur="1" fill="hold">
                                          <p:stCondLst>
                                            <p:cond delay="0"/>
                                          </p:stCondLst>
                                        </p:cTn>
                                        <p:tgtEl>
                                          <p:spTgt spid="58"/>
                                        </p:tgtEl>
                                        <p:attrNameLst>
                                          <p:attrName>style.visibility</p:attrName>
                                        </p:attrNameLst>
                                      </p:cBhvr>
                                      <p:to>
                                        <p:strVal val="visible"/>
                                      </p:to>
                                    </p:set>
                                    <p:animEffect filter="fade" transition="in">
                                      <p:cBhvr>
                                        <p:cTn dur="1000"/>
                                        <p:tgtEl>
                                          <p:spTgt spid="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1000"/>
                                        <p:tgtEl>
                                          <p:spTgt spid="56"/>
                                        </p:tgtEl>
                                      </p:cBhvr>
                                    </p:animEffect>
                                  </p:childTnLst>
                                </p:cTn>
                              </p:par>
                              <p:par>
                                <p:cTn fill="hold" nodeType="withEffect" presetClass="entr" presetID="10" presetSubtype="0">
                                  <p:stCondLst>
                                    <p:cond delay="0"/>
                                  </p:stCondLst>
                                  <p:childTnLst>
                                    <p:set>
                                      <p:cBhvr>
                                        <p:cTn dur="1" fill="hold">
                                          <p:stCondLst>
                                            <p:cond delay="0"/>
                                          </p:stCondLst>
                                        </p:cTn>
                                        <p:tgtEl>
                                          <p:spTgt spid="57"/>
                                        </p:tgtEl>
                                        <p:attrNameLst>
                                          <p:attrName>style.visibility</p:attrName>
                                        </p:attrNameLst>
                                      </p:cBhvr>
                                      <p:to>
                                        <p:strVal val="visible"/>
                                      </p:to>
                                    </p:set>
                                    <p:animEffect filter="fade" transition="in">
                                      <p:cBhvr>
                                        <p:cTn dur="1000"/>
                                        <p:tgtEl>
                                          <p:spTgt spid="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1000"/>
                                        <p:tgtEl>
                                          <p:spTgt spid="59"/>
                                        </p:tgtEl>
                                      </p:cBhvr>
                                    </p:animEffect>
                                  </p:childTnLst>
                                </p:cTn>
                              </p:par>
                              <p:par>
                                <p:cTn fill="hold" nodeType="withEffect" presetClass="entr" presetID="10" presetSubtype="0">
                                  <p:stCondLst>
                                    <p:cond delay="0"/>
                                  </p:stCondLst>
                                  <p:childTnLst>
                                    <p:set>
                                      <p:cBhvr>
                                        <p:cTn dur="1" fill="hold">
                                          <p:stCondLst>
                                            <p:cond delay="0"/>
                                          </p:stCondLst>
                                        </p:cTn>
                                        <p:tgtEl>
                                          <p:spTgt spid="60"/>
                                        </p:tgtEl>
                                        <p:attrNameLst>
                                          <p:attrName>style.visibility</p:attrName>
                                        </p:attrNameLst>
                                      </p:cBhvr>
                                      <p:to>
                                        <p:strVal val="visible"/>
                                      </p:to>
                                    </p:set>
                                    <p:animEffect filter="fade" transition="in">
                                      <p:cBhvr>
                                        <p:cTn dur="1000"/>
                                        <p:tgtEl>
                                          <p:spTgt spid="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nvSpPr>
        <p:spPr>
          <a:xfrm>
            <a:off x="422525" y="255300"/>
            <a:ext cx="6809100" cy="4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Human Rights</a:t>
            </a:r>
            <a:endParaRPr/>
          </a:p>
        </p:txBody>
      </p:sp>
      <p:sp>
        <p:nvSpPr>
          <p:cNvPr id="66" name="Google Shape;66;p14"/>
          <p:cNvSpPr txBox="1"/>
          <p:nvPr/>
        </p:nvSpPr>
        <p:spPr>
          <a:xfrm>
            <a:off x="422525" y="766075"/>
            <a:ext cx="6809100" cy="423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Freedom from discrimination, the right to own property, the right to no cruel or unusual punishment...</a:t>
            </a:r>
            <a:endParaRPr/>
          </a:p>
        </p:txBody>
      </p:sp>
      <p:sp>
        <p:nvSpPr>
          <p:cNvPr id="67" name="Google Shape;67;p14"/>
          <p:cNvSpPr txBox="1"/>
          <p:nvPr/>
        </p:nvSpPr>
        <p:spPr>
          <a:xfrm>
            <a:off x="422525" y="1993650"/>
            <a:ext cx="6809100" cy="639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The US is the only place in the world that protects its citizens with the right to free speech</a:t>
            </a:r>
            <a:endParaRPr/>
          </a:p>
        </p:txBody>
      </p:sp>
      <p:sp>
        <p:nvSpPr>
          <p:cNvPr id="68" name="Google Shape;68;p14"/>
          <p:cNvSpPr txBox="1"/>
          <p:nvPr/>
        </p:nvSpPr>
        <p:spPr>
          <a:xfrm>
            <a:off x="422525" y="1423313"/>
            <a:ext cx="6809100" cy="423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Socrates died for exercising his right to freedom of speech</a:t>
            </a:r>
            <a:endParaRPr/>
          </a:p>
        </p:txBody>
      </p:sp>
      <p:pic>
        <p:nvPicPr>
          <p:cNvPr id="69" name="Google Shape;69;p14"/>
          <p:cNvPicPr preferRelativeResize="0"/>
          <p:nvPr/>
        </p:nvPicPr>
        <p:blipFill>
          <a:blip r:embed="rId3">
            <a:alphaModFix/>
          </a:blip>
          <a:stretch>
            <a:fillRect/>
          </a:stretch>
        </p:blipFill>
        <p:spPr>
          <a:xfrm>
            <a:off x="152400" y="2785950"/>
            <a:ext cx="2205150" cy="2205150"/>
          </a:xfrm>
          <a:prstGeom prst="rect">
            <a:avLst/>
          </a:prstGeom>
          <a:noFill/>
          <a:ln>
            <a:noFill/>
          </a:ln>
        </p:spPr>
      </p:pic>
      <p:pic>
        <p:nvPicPr>
          <p:cNvPr id="70" name="Google Shape;70;p14"/>
          <p:cNvPicPr preferRelativeResize="0"/>
          <p:nvPr/>
        </p:nvPicPr>
        <p:blipFill>
          <a:blip r:embed="rId4">
            <a:alphaModFix/>
          </a:blip>
          <a:stretch>
            <a:fillRect/>
          </a:stretch>
        </p:blipFill>
        <p:spPr>
          <a:xfrm>
            <a:off x="2509950" y="2785950"/>
            <a:ext cx="2619375" cy="1743075"/>
          </a:xfrm>
          <a:prstGeom prst="rect">
            <a:avLst/>
          </a:prstGeom>
          <a:noFill/>
          <a:ln>
            <a:noFill/>
          </a:ln>
        </p:spPr>
      </p:pic>
      <p:pic>
        <p:nvPicPr>
          <p:cNvPr id="71" name="Google Shape;71;p14"/>
          <p:cNvPicPr preferRelativeResize="0"/>
          <p:nvPr/>
        </p:nvPicPr>
        <p:blipFill>
          <a:blip r:embed="rId5">
            <a:alphaModFix/>
          </a:blip>
          <a:stretch>
            <a:fillRect/>
          </a:stretch>
        </p:blipFill>
        <p:spPr>
          <a:xfrm>
            <a:off x="5281725" y="2785950"/>
            <a:ext cx="3709876" cy="20095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1000"/>
                                        <p:tgtEl>
                                          <p:spTgt spid="66"/>
                                        </p:tgtEl>
                                      </p:cBhvr>
                                    </p:animEffect>
                                  </p:childTnLst>
                                </p:cTn>
                              </p:par>
                              <p:par>
                                <p:cTn fill="hold" nodeType="with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1000"/>
                                        <p:tgtEl>
                                          <p:spTgt spid="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1000"/>
                                        <p:tgtEl>
                                          <p:spTgt spid="68"/>
                                        </p:tgtEl>
                                      </p:cBhvr>
                                    </p:animEffect>
                                  </p:childTnLst>
                                </p:cTn>
                              </p:par>
                              <p:par>
                                <p:cTn fill="hold" nodeType="with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1000"/>
                                        <p:tgtEl>
                                          <p:spTgt spid="67"/>
                                        </p:tgtEl>
                                      </p:cBhvr>
                                    </p:animEffect>
                                  </p:childTnLst>
                                </p:cTn>
                              </p:par>
                              <p:par>
                                <p:cTn fill="hold" nodeType="with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1000"/>
                                        <p:tgtEl>
                                          <p:spTgt spid="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nvSpPr>
        <p:spPr>
          <a:xfrm>
            <a:off x="422525" y="255300"/>
            <a:ext cx="6809100" cy="4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Cultural Issues</a:t>
            </a:r>
            <a:endParaRPr/>
          </a:p>
        </p:txBody>
      </p:sp>
      <p:sp>
        <p:nvSpPr>
          <p:cNvPr id="77" name="Google Shape;77;p15"/>
          <p:cNvSpPr txBox="1"/>
          <p:nvPr/>
        </p:nvSpPr>
        <p:spPr>
          <a:xfrm>
            <a:off x="422525" y="766075"/>
            <a:ext cx="8314800" cy="1043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Public discourse has made a shift from face-to-face dialogue, to the world wide web, of the internet</a:t>
            </a:r>
            <a:endParaRPr/>
          </a:p>
          <a:p>
            <a:pPr indent="-317500" lvl="1" marL="914400" rtl="0" algn="l">
              <a:spcBef>
                <a:spcPts val="0"/>
              </a:spcBef>
              <a:spcAft>
                <a:spcPts val="0"/>
              </a:spcAft>
              <a:buSzPts val="1400"/>
              <a:buChar char="-"/>
            </a:pPr>
            <a:r>
              <a:rPr lang="en"/>
              <a:t>3.6 billion worldwide users on social media in 2020</a:t>
            </a:r>
            <a:endParaRPr/>
          </a:p>
          <a:p>
            <a:pPr indent="-317500" lvl="1" marL="914400" rtl="0" algn="l">
              <a:spcBef>
                <a:spcPts val="0"/>
              </a:spcBef>
              <a:spcAft>
                <a:spcPts val="0"/>
              </a:spcAft>
              <a:buSzPts val="1400"/>
              <a:buChar char="-"/>
            </a:pPr>
            <a:r>
              <a:rPr lang="en"/>
              <a:t>Predict that 4.41 billion by 2025</a:t>
            </a:r>
            <a:endParaRPr/>
          </a:p>
        </p:txBody>
      </p:sp>
      <p:sp>
        <p:nvSpPr>
          <p:cNvPr id="78" name="Google Shape;78;p15"/>
          <p:cNvSpPr txBox="1"/>
          <p:nvPr/>
        </p:nvSpPr>
        <p:spPr>
          <a:xfrm>
            <a:off x="422525" y="1809475"/>
            <a:ext cx="8455500" cy="1043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United State law protects all forms of speech, no matter how </a:t>
            </a:r>
            <a:r>
              <a:rPr lang="en"/>
              <a:t>controversial</a:t>
            </a:r>
            <a:r>
              <a:rPr lang="en"/>
              <a:t>, without punishable </a:t>
            </a:r>
            <a:r>
              <a:rPr lang="en"/>
              <a:t>consequences</a:t>
            </a:r>
            <a:endParaRPr/>
          </a:p>
          <a:p>
            <a:pPr indent="-317500" lvl="1" marL="914400" rtl="0" algn="l">
              <a:spcBef>
                <a:spcPts val="0"/>
              </a:spcBef>
              <a:spcAft>
                <a:spcPts val="0"/>
              </a:spcAft>
              <a:buSzPts val="1400"/>
              <a:buChar char="-"/>
            </a:pPr>
            <a:r>
              <a:rPr lang="en"/>
              <a:t>Cannot advocate violence</a:t>
            </a:r>
            <a:endParaRPr/>
          </a:p>
          <a:p>
            <a:pPr indent="-317500" lvl="1" marL="914400" rtl="0" algn="l">
              <a:spcBef>
                <a:spcPts val="0"/>
              </a:spcBef>
              <a:spcAft>
                <a:spcPts val="0"/>
              </a:spcAft>
              <a:buSzPts val="1400"/>
              <a:buChar char="-"/>
            </a:pPr>
            <a:r>
              <a:rPr lang="en"/>
              <a:t>Cannot make threats which incite great bodily harm or death</a:t>
            </a:r>
            <a:endParaRPr/>
          </a:p>
          <a:p>
            <a:pPr indent="-317500" lvl="1" marL="914400" rtl="0" algn="l">
              <a:spcBef>
                <a:spcPts val="0"/>
              </a:spcBef>
              <a:spcAft>
                <a:spcPts val="0"/>
              </a:spcAft>
              <a:buSzPts val="1400"/>
              <a:buChar char="-"/>
            </a:pPr>
            <a:r>
              <a:rPr lang="en">
                <a:solidFill>
                  <a:schemeClr val="dk1"/>
                </a:solidFill>
              </a:rPr>
              <a:t>Obscenities</a:t>
            </a:r>
            <a:r>
              <a:rPr lang="en"/>
              <a:t>; child pornography</a:t>
            </a:r>
            <a:endParaRPr/>
          </a:p>
          <a:p>
            <a:pPr indent="0" lvl="0" marL="0" rtl="0" algn="l">
              <a:spcBef>
                <a:spcPts val="0"/>
              </a:spcBef>
              <a:spcAft>
                <a:spcPts val="0"/>
              </a:spcAft>
              <a:buNone/>
            </a:pPr>
            <a:r>
              <a:t/>
            </a:r>
            <a:endParaRPr/>
          </a:p>
        </p:txBody>
      </p:sp>
      <p:sp>
        <p:nvSpPr>
          <p:cNvPr id="79" name="Google Shape;79;p15"/>
          <p:cNvSpPr txBox="1"/>
          <p:nvPr/>
        </p:nvSpPr>
        <p:spPr>
          <a:xfrm>
            <a:off x="422525" y="2953825"/>
            <a:ext cx="8504400" cy="1043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Hate speech is a protected form of speech ruled by the United States supreme court</a:t>
            </a:r>
            <a:endParaRPr/>
          </a:p>
          <a:p>
            <a:pPr indent="-317500" lvl="1" marL="914400" rtl="0" algn="l">
              <a:spcBef>
                <a:spcPts val="0"/>
              </a:spcBef>
              <a:spcAft>
                <a:spcPts val="0"/>
              </a:spcAft>
              <a:buSzPts val="1400"/>
              <a:buChar char="-"/>
            </a:pPr>
            <a:r>
              <a:rPr lang="en"/>
              <a:t>Includes racial slurs</a:t>
            </a:r>
            <a:endParaRPr/>
          </a:p>
          <a:p>
            <a:pPr indent="-317500" lvl="1" marL="914400" rtl="0" algn="l">
              <a:spcBef>
                <a:spcPts val="0"/>
              </a:spcBef>
              <a:spcAft>
                <a:spcPts val="0"/>
              </a:spcAft>
              <a:buSzPts val="1400"/>
              <a:buChar char="-"/>
            </a:pPr>
            <a:r>
              <a:rPr lang="en"/>
              <a:t>Other </a:t>
            </a:r>
            <a:r>
              <a:rPr lang="en"/>
              <a:t>distasteful</a:t>
            </a:r>
            <a:r>
              <a:rPr lang="en"/>
              <a:t> </a:t>
            </a:r>
            <a:r>
              <a:rPr lang="en"/>
              <a:t>language</a:t>
            </a:r>
            <a:endParaRPr/>
          </a:p>
        </p:txBody>
      </p:sp>
      <p:sp>
        <p:nvSpPr>
          <p:cNvPr id="80" name="Google Shape;80;p15"/>
          <p:cNvSpPr txBox="1"/>
          <p:nvPr/>
        </p:nvSpPr>
        <p:spPr>
          <a:xfrm>
            <a:off x="327725" y="3841000"/>
            <a:ext cx="8504400" cy="1043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Freedom of association</a:t>
            </a:r>
            <a:endParaRPr/>
          </a:p>
          <a:p>
            <a:pPr indent="-317500" lvl="1" marL="914400" rtl="0" algn="l">
              <a:spcBef>
                <a:spcPts val="0"/>
              </a:spcBef>
              <a:spcAft>
                <a:spcPts val="0"/>
              </a:spcAft>
              <a:buSzPts val="1400"/>
              <a:buChar char="-"/>
            </a:pPr>
            <a:r>
              <a:rPr lang="en"/>
              <a:t>Terms and conditions that extend further restrictions that what is legally protected</a:t>
            </a:r>
            <a:endParaRPr/>
          </a:p>
          <a:p>
            <a:pPr indent="-317500" lvl="1" marL="914400" rtl="0" algn="l">
              <a:spcBef>
                <a:spcPts val="0"/>
              </a:spcBef>
              <a:spcAft>
                <a:spcPts val="0"/>
              </a:spcAft>
              <a:buSzPts val="1400"/>
              <a:buChar char="-"/>
            </a:pPr>
            <a:r>
              <a:rPr lang="en"/>
              <a:t>Joe Rogan podcast with Jack Dorsey, Vijaya Gadde &amp; Tim Pool on the enforcement of company policy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1000"/>
                                        <p:tgtEl>
                                          <p:spTgt spid="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1000"/>
                                        <p:tgtEl>
                                          <p:spTgt spid="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1000"/>
                                        <p:tgtEl>
                                          <p:spTgt spid="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nvSpPr>
        <p:spPr>
          <a:xfrm>
            <a:off x="422525" y="255300"/>
            <a:ext cx="6809100" cy="4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Ethical Issues</a:t>
            </a:r>
            <a:endParaRPr/>
          </a:p>
        </p:txBody>
      </p:sp>
      <p:sp>
        <p:nvSpPr>
          <p:cNvPr id="86" name="Google Shape;86;p16"/>
          <p:cNvSpPr txBox="1"/>
          <p:nvPr/>
        </p:nvSpPr>
        <p:spPr>
          <a:xfrm>
            <a:off x="422525" y="766075"/>
            <a:ext cx="8333100" cy="810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If social media platforms and are considered the ‘town square’ form public discourse of our time, is if ethical for these companies to removes citezens from exersising thier human rights to free speech?</a:t>
            </a:r>
            <a:endParaRPr/>
          </a:p>
        </p:txBody>
      </p:sp>
      <p:sp>
        <p:nvSpPr>
          <p:cNvPr id="87" name="Google Shape;87;p16"/>
          <p:cNvSpPr txBox="1"/>
          <p:nvPr/>
        </p:nvSpPr>
        <p:spPr>
          <a:xfrm>
            <a:off x="422525" y="1632550"/>
            <a:ext cx="8333100" cy="810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Robert Epstein, a San Diego-based psychologist, reported to the New York Times that Google search manipulation resulted in the mass numbers of converted voters</a:t>
            </a:r>
            <a:endParaRPr/>
          </a:p>
          <a:p>
            <a:pPr indent="-317500" lvl="0" marL="457200" rtl="0" algn="l">
              <a:spcBef>
                <a:spcPts val="0"/>
              </a:spcBef>
              <a:spcAft>
                <a:spcPts val="0"/>
              </a:spcAft>
              <a:buSzPts val="1400"/>
              <a:buChar char="-"/>
            </a:pPr>
            <a:r>
              <a:rPr lang="en"/>
              <a:t>Tim pool, on the JRE podcast claimed Twitter is making a protected class by silencing speech that they oppose.</a:t>
            </a:r>
            <a:endParaRPr/>
          </a:p>
        </p:txBody>
      </p:sp>
      <p:sp>
        <p:nvSpPr>
          <p:cNvPr id="88" name="Google Shape;88;p16"/>
          <p:cNvSpPr txBox="1"/>
          <p:nvPr/>
        </p:nvSpPr>
        <p:spPr>
          <a:xfrm>
            <a:off x="405450" y="2680875"/>
            <a:ext cx="8333100" cy="976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If speech is a human right and technology is the most popular form to express that right, then there must be a need for ethics in CS</a:t>
            </a:r>
            <a:endParaRPr/>
          </a:p>
          <a:p>
            <a:pPr indent="-317500" lvl="1" marL="914400" rtl="0" algn="l">
              <a:spcBef>
                <a:spcPts val="0"/>
              </a:spcBef>
              <a:spcAft>
                <a:spcPts val="0"/>
              </a:spcAft>
              <a:buSzPts val="1400"/>
              <a:buChar char="-"/>
            </a:pPr>
            <a:r>
              <a:rPr lang="en"/>
              <a:t>Who is responsible for regulating speech</a:t>
            </a:r>
            <a:endParaRPr/>
          </a:p>
        </p:txBody>
      </p:sp>
      <p:sp>
        <p:nvSpPr>
          <p:cNvPr id="89" name="Google Shape;89;p16"/>
          <p:cNvSpPr txBox="1"/>
          <p:nvPr/>
        </p:nvSpPr>
        <p:spPr>
          <a:xfrm>
            <a:off x="490050" y="3565475"/>
            <a:ext cx="8333100" cy="976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3 possible solutions</a:t>
            </a:r>
            <a:endParaRPr/>
          </a:p>
          <a:p>
            <a:pPr indent="-317500" lvl="1" marL="914400" rtl="0" algn="l">
              <a:spcBef>
                <a:spcPts val="0"/>
              </a:spcBef>
              <a:spcAft>
                <a:spcPts val="0"/>
              </a:spcAft>
              <a:buSzPts val="1400"/>
              <a:buChar char="-"/>
            </a:pPr>
            <a:r>
              <a:rPr lang="en"/>
              <a:t>Allow all speech</a:t>
            </a:r>
            <a:endParaRPr/>
          </a:p>
          <a:p>
            <a:pPr indent="-317500" lvl="1" marL="914400" rtl="0" algn="l">
              <a:spcBef>
                <a:spcPts val="0"/>
              </a:spcBef>
              <a:spcAft>
                <a:spcPts val="0"/>
              </a:spcAft>
              <a:buSzPts val="1400"/>
              <a:buChar char="-"/>
            </a:pPr>
            <a:r>
              <a:rPr lang="en"/>
              <a:t>Allow US protected free speech</a:t>
            </a:r>
            <a:endParaRPr/>
          </a:p>
          <a:p>
            <a:pPr indent="-317500" lvl="1" marL="914400" rtl="0" algn="l">
              <a:spcBef>
                <a:spcPts val="0"/>
              </a:spcBef>
              <a:spcAft>
                <a:spcPts val="0"/>
              </a:spcAft>
              <a:buSzPts val="1400"/>
              <a:buChar char="-"/>
            </a:pPr>
            <a:r>
              <a:rPr lang="en"/>
              <a:t>Enforce restrictions that reflect beliefs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1000"/>
                                        <p:tgtEl>
                                          <p:spTgt spid="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idx="1" type="body"/>
          </p:nvPr>
        </p:nvSpPr>
        <p:spPr>
          <a:xfrm>
            <a:off x="311700" y="409875"/>
            <a:ext cx="8520600" cy="4012500"/>
          </a:xfrm>
          <a:prstGeom prst="rect">
            <a:avLst/>
          </a:prstGeom>
        </p:spPr>
        <p:txBody>
          <a:bodyPr anchorCtr="0" anchor="t" bIns="91425" lIns="91425" spcFirstLastPara="1" rIns="91425" wrap="square" tIns="91425">
            <a:noAutofit/>
          </a:bodyPr>
          <a:lstStyle/>
          <a:p>
            <a:pPr indent="-298450" lvl="0" marL="457200" rtl="0" algn="l">
              <a:spcBef>
                <a:spcPts val="1200"/>
              </a:spcBef>
              <a:spcAft>
                <a:spcPts val="0"/>
              </a:spcAft>
              <a:buClr>
                <a:schemeClr val="dk1"/>
              </a:buClr>
              <a:buSzPts val="1100"/>
              <a:buAutoNum type="arabicPeriod"/>
            </a:pPr>
            <a:r>
              <a:rPr lang="en" sz="1100">
                <a:solidFill>
                  <a:schemeClr val="dk1"/>
                </a:solidFill>
              </a:rPr>
              <a:t>O'Dea, S. “Mobile OS Market Share in the U.S. 2019.” </a:t>
            </a:r>
            <a:r>
              <a:rPr i="1" lang="en" sz="1100">
                <a:solidFill>
                  <a:schemeClr val="dk1"/>
                </a:solidFill>
              </a:rPr>
              <a:t>Statista</a:t>
            </a:r>
            <a:r>
              <a:rPr lang="en" sz="1100">
                <a:solidFill>
                  <a:schemeClr val="dk1"/>
                </a:solidFill>
              </a:rPr>
              <a:t>, 17 Aug. 2020, www.statista.com/statistics/266572/market-share-held-by-smartphone-platforms-in-the-united-states/.</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“Search Engine Market Share.” </a:t>
            </a:r>
            <a:r>
              <a:rPr i="1" lang="en" sz="1100">
                <a:solidFill>
                  <a:schemeClr val="dk1"/>
                </a:solidFill>
              </a:rPr>
              <a:t>Net MarketShare</a:t>
            </a:r>
            <a:r>
              <a:rPr lang="en" sz="1100">
                <a:solidFill>
                  <a:schemeClr val="dk1"/>
                </a:solidFill>
              </a:rPr>
              <a:t>, NetApplications, 2017, netmarketshare.com/search-engine-market-share.aspx?options=%7B%22filter%22%3A%7B%7D%2C%22dateLabel%22%3A%22Trend%22%2C%22attributes%22%3A%22share%22%2C%22group%22%3A%22searchEngine%22%2C%22sort%22%3A%7B%22share%22%3A-1%7D%2C%22id%22%3A%22searchEnginesDesktop%22%2C%22dateInterval%22%3A%22Monthly%22%2C%22dateStart%22%3A%222019-08%22%2C%22dateEnd%22%3A%222020-07%22%2C%22segments%22%3A%22-1000%22%7D.</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“Robert Epstein.” </a:t>
            </a:r>
            <a:r>
              <a:rPr i="1" lang="en" sz="1100">
                <a:solidFill>
                  <a:schemeClr val="dk1"/>
                </a:solidFill>
              </a:rPr>
              <a:t>Wikipedia</a:t>
            </a:r>
            <a:r>
              <a:rPr lang="en" sz="1100">
                <a:solidFill>
                  <a:schemeClr val="dk1"/>
                </a:solidFill>
              </a:rPr>
              <a:t>, Wikimedia Foundation, 28 July 2020, en.wikipedia.org/wiki/Robert_Epstein.</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Halper, Evan. “This Psychologist Claims Google Search Results Unfairly Steer Voters to the Left. Conservatives Love Him.” </a:t>
            </a:r>
            <a:r>
              <a:rPr i="1" lang="en" sz="1100">
                <a:solidFill>
                  <a:schemeClr val="dk1"/>
                </a:solidFill>
              </a:rPr>
              <a:t>Los Angeles Times</a:t>
            </a:r>
            <a:r>
              <a:rPr lang="en" sz="1100">
                <a:solidFill>
                  <a:schemeClr val="dk1"/>
                </a:solidFill>
              </a:rPr>
              <a:t>, Los Angeles Times, 22 Mar. 2019, </a:t>
            </a:r>
            <a:r>
              <a:rPr lang="en" sz="1100" u="sng">
                <a:solidFill>
                  <a:srgbClr val="1155CC"/>
                </a:solidFill>
                <a:hlinkClick r:id="rId3">
                  <a:extLst>
                    <a:ext uri="{A12FA001-AC4F-418D-AE19-62706E023703}">
                      <ahyp:hlinkClr val="tx"/>
                    </a:ext>
                  </a:extLst>
                </a:hlinkClick>
              </a:rPr>
              <a:t>www.latimes.com/politics/la-na-pol-google-search-bias-elections-20190322-story.html</a:t>
            </a:r>
            <a:r>
              <a:rPr lang="en"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“United States Free Speech Exceptions.” Wikipedia, Wikimedia Foundation, 16 Aug. 2020, en.wikipedia.org/wiki/United_States_free_speech_exceptions.</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Rogan, Joe. “Joe Rogan Experience #1258 - Jack Dorsey, Vijaya Gadde &amp; Tim Pool.” </a:t>
            </a:r>
            <a:r>
              <a:rPr i="1" lang="en" sz="1100">
                <a:solidFill>
                  <a:schemeClr val="dk1"/>
                </a:solidFill>
              </a:rPr>
              <a:t>Youtube</a:t>
            </a:r>
            <a:r>
              <a:rPr lang="en" sz="1100">
                <a:solidFill>
                  <a:schemeClr val="dk1"/>
                </a:solidFill>
              </a:rPr>
              <a:t>, 5 Mar. 2019, www.youtube.com/watch?v=DZCBRHOg3PQ.</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