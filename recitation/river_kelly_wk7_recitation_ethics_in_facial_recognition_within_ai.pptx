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Raleway"/>
      <p:regular r:id="rId11"/>
      <p:bold r:id="rId12"/>
      <p:italic r:id="rId13"/>
      <p:boldItalic r:id="rId14"/>
    </p:embeddedFont>
    <p:embeddedFont>
      <p:font typeface="La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aleway-regular.fntdata"/><Relationship Id="rId10" Type="http://schemas.openxmlformats.org/officeDocument/2006/relationships/slide" Target="slides/slide5.xml"/><Relationship Id="rId13" Type="http://schemas.openxmlformats.org/officeDocument/2006/relationships/font" Target="fonts/Raleway-italic.fntdata"/><Relationship Id="rId12" Type="http://schemas.openxmlformats.org/officeDocument/2006/relationships/font" Target="fonts/Ralew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Lato-regular.fntdata"/><Relationship Id="rId14" Type="http://schemas.openxmlformats.org/officeDocument/2006/relationships/font" Target="fonts/Raleway-boldItalic.fntdata"/><Relationship Id="rId17" Type="http://schemas.openxmlformats.org/officeDocument/2006/relationships/font" Target="fonts/Lato-italic.fntdata"/><Relationship Id="rId16"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9ca79ec446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9ca79ec446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9ca79ec446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9ca79ec446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9ca79ec446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9ca79ec446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9ca79ec446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9ca79ec446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Ethics in Facial Recognition with AI</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River Kelly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 </a:t>
            </a:r>
            <a:r>
              <a:rPr lang="en"/>
              <a:t>Surveillance Footage</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Cameras are recording and capturing data 24/7</a:t>
            </a:r>
            <a:endParaRPr/>
          </a:p>
          <a:p>
            <a:pPr indent="-298450" lvl="1" marL="914400" rtl="0" algn="l">
              <a:spcBef>
                <a:spcPts val="0"/>
              </a:spcBef>
              <a:spcAft>
                <a:spcPts val="0"/>
              </a:spcAft>
              <a:buSzPts val="1100"/>
              <a:buChar char="-"/>
            </a:pPr>
            <a:r>
              <a:rPr lang="en"/>
              <a:t>Mobile devices</a:t>
            </a:r>
            <a:endParaRPr/>
          </a:p>
          <a:p>
            <a:pPr indent="-298450" lvl="1" marL="914400" rtl="0" algn="l">
              <a:spcBef>
                <a:spcPts val="0"/>
              </a:spcBef>
              <a:spcAft>
                <a:spcPts val="0"/>
              </a:spcAft>
              <a:buSzPts val="1100"/>
              <a:buChar char="-"/>
            </a:pPr>
            <a:r>
              <a:rPr lang="en"/>
              <a:t>CCTV (Stores &amp; Gas Stations)</a:t>
            </a:r>
            <a:endParaRPr/>
          </a:p>
          <a:p>
            <a:pPr indent="-298450" lvl="1" marL="914400" rtl="0" algn="l">
              <a:spcBef>
                <a:spcPts val="0"/>
              </a:spcBef>
              <a:spcAft>
                <a:spcPts val="0"/>
              </a:spcAft>
              <a:buSzPts val="1100"/>
              <a:buChar char="-"/>
            </a:pPr>
            <a:r>
              <a:rPr lang="en"/>
              <a:t>Smart Cars</a:t>
            </a:r>
            <a:endParaRPr/>
          </a:p>
          <a:p>
            <a:pPr indent="-298450" lvl="1" marL="914400" rtl="0" algn="l">
              <a:spcBef>
                <a:spcPts val="0"/>
              </a:spcBef>
              <a:spcAft>
                <a:spcPts val="0"/>
              </a:spcAft>
              <a:buSzPts val="1100"/>
              <a:buChar char="-"/>
            </a:pPr>
            <a:r>
              <a:rPr lang="en"/>
              <a:t>Traffic </a:t>
            </a:r>
            <a:r>
              <a:rPr lang="en"/>
              <a:t>Moderating</a:t>
            </a:r>
            <a:endParaRPr/>
          </a:p>
          <a:p>
            <a:pPr indent="-298450" lvl="1" marL="914400" rtl="0" algn="l">
              <a:spcBef>
                <a:spcPts val="0"/>
              </a:spcBef>
              <a:spcAft>
                <a:spcPts val="0"/>
              </a:spcAft>
              <a:buSzPts val="1100"/>
              <a:buChar char="-"/>
            </a:pPr>
            <a:r>
              <a:rPr lang="en"/>
              <a:t>ATMS</a:t>
            </a:r>
            <a:endParaRPr/>
          </a:p>
          <a:p>
            <a:pPr indent="-311150" lvl="0" marL="457200" rtl="0" algn="l">
              <a:spcBef>
                <a:spcPts val="0"/>
              </a:spcBef>
              <a:spcAft>
                <a:spcPts val="0"/>
              </a:spcAft>
              <a:buSzPts val="1300"/>
              <a:buChar char="-"/>
            </a:pPr>
            <a:r>
              <a:rPr lang="en"/>
              <a:t>This data can now be </a:t>
            </a:r>
            <a:r>
              <a:rPr lang="en"/>
              <a:t>analyzed</a:t>
            </a:r>
            <a:r>
              <a:rPr lang="en"/>
              <a:t> using AI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Super Bowl XXXV</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“It became public that police used video cameras equipped with facial recognition to scan the faces of the 100,000 visitors to the Bowl in search of wanted criminals.” (</a:t>
            </a:r>
            <a:r>
              <a:rPr lang="en"/>
              <a:t>Brey, 2004</a:t>
            </a:r>
            <a:r>
              <a:rPr lang="en"/>
              <a:t>)</a:t>
            </a:r>
            <a:endParaRPr/>
          </a:p>
          <a:p>
            <a:pPr indent="-298450" lvl="1" marL="914400" rtl="0" algn="l">
              <a:spcBef>
                <a:spcPts val="1600"/>
              </a:spcBef>
              <a:spcAft>
                <a:spcPts val="0"/>
              </a:spcAft>
              <a:buSzPts val="1100"/>
              <a:buChar char="-"/>
            </a:pPr>
            <a:r>
              <a:rPr lang="en"/>
              <a:t>Since the September 11 terrorist attacks, federal governments have taken interest in the technology (Brey, 2004)</a:t>
            </a:r>
            <a:endParaRPr/>
          </a:p>
          <a:p>
            <a:pPr indent="-311150" lvl="0" marL="457200" rtl="0" algn="l">
              <a:spcBef>
                <a:spcPts val="1600"/>
              </a:spcBef>
              <a:spcAft>
                <a:spcPts val="1600"/>
              </a:spcAft>
              <a:buSzPts val="1300"/>
              <a:buChar char="-"/>
            </a:pPr>
            <a:r>
              <a:rPr lang="en"/>
              <a:t>FaceIt engine - a software engine that works by analyzing up to eight facial points around the nose, cheekbones and eyes (Brey, 2004)</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Security vs. Privacy</a:t>
            </a:r>
            <a:endParaRPr/>
          </a:p>
        </p:txBody>
      </p:sp>
      <p:sp>
        <p:nvSpPr>
          <p:cNvPr id="105" name="Google Shape;105;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Proponents typically argue that the technology has significant security benefits and minimal privacy losses, and that any privacy losses are in any case offset by the great security benefits.</a:t>
            </a:r>
            <a:endParaRPr/>
          </a:p>
          <a:p>
            <a:pPr indent="-311150" lvl="0" marL="457200" rtl="0" algn="l">
              <a:spcBef>
                <a:spcPts val="0"/>
              </a:spcBef>
              <a:spcAft>
                <a:spcPts val="0"/>
              </a:spcAft>
              <a:buSzPts val="1300"/>
              <a:buChar char="-"/>
            </a:pPr>
            <a:r>
              <a:rPr lang="en"/>
              <a:t>Opponents typically argue that the security benefits are overestimated and the privacy losses are underestimated by the proponents, and that the costs to privacy of the technology are greater than the gains in security.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 Cited</a:t>
            </a:r>
            <a:endParaRPr/>
          </a:p>
        </p:txBody>
      </p:sp>
      <p:sp>
        <p:nvSpPr>
          <p:cNvPr id="111" name="Google Shape;111;p1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1200"/>
              </a:spcBef>
              <a:spcAft>
                <a:spcPts val="0"/>
              </a:spcAft>
              <a:buSzPts val="1300"/>
              <a:buAutoNum type="arabicPeriod"/>
            </a:pPr>
            <a:r>
              <a:rPr lang="en" sz="1100">
                <a:solidFill>
                  <a:srgbClr val="000000"/>
                </a:solidFill>
                <a:latin typeface="Arial"/>
                <a:ea typeface="Arial"/>
                <a:cs typeface="Arial"/>
                <a:sym typeface="Arial"/>
              </a:rPr>
              <a:t>Brey, P. (2004). Ethical aspects of facial recognition systems in public places. </a:t>
            </a:r>
            <a:r>
              <a:rPr i="1" lang="en" sz="1100">
                <a:solidFill>
                  <a:srgbClr val="000000"/>
                </a:solidFill>
                <a:latin typeface="Arial"/>
                <a:ea typeface="Arial"/>
                <a:cs typeface="Arial"/>
                <a:sym typeface="Arial"/>
              </a:rPr>
              <a:t>Journal of Information, Communication and Ethics in Society,</a:t>
            </a:r>
            <a:r>
              <a:rPr lang="en" sz="1100">
                <a:solidFill>
                  <a:srgbClr val="000000"/>
                </a:solidFill>
                <a:latin typeface="Arial"/>
                <a:ea typeface="Arial"/>
                <a:cs typeface="Arial"/>
                <a:sym typeface="Arial"/>
              </a:rPr>
              <a:t> </a:t>
            </a:r>
            <a:r>
              <a:rPr i="1" lang="en" sz="1100">
                <a:solidFill>
                  <a:srgbClr val="000000"/>
                </a:solidFill>
                <a:latin typeface="Arial"/>
                <a:ea typeface="Arial"/>
                <a:cs typeface="Arial"/>
                <a:sym typeface="Arial"/>
              </a:rPr>
              <a:t>2</a:t>
            </a:r>
            <a:r>
              <a:rPr lang="en" sz="1100">
                <a:solidFill>
                  <a:srgbClr val="000000"/>
                </a:solidFill>
                <a:latin typeface="Arial"/>
                <a:ea typeface="Arial"/>
                <a:cs typeface="Arial"/>
                <a:sym typeface="Arial"/>
              </a:rPr>
              <a:t>(2), 97-109. doi:10.1108/14779960480000246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