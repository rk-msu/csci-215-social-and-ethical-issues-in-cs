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aleway"/>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italic.fntdata"/><Relationship Id="rId14" Type="http://schemas.openxmlformats.org/officeDocument/2006/relationships/font" Target="fonts/Raleway-bold.fntdata"/><Relationship Id="rId17" Type="http://schemas.openxmlformats.org/officeDocument/2006/relationships/font" Target="fonts/Lato-regular.fntdata"/><Relationship Id="rId16" Type="http://schemas.openxmlformats.org/officeDocument/2006/relationships/font" Target="fonts/Raleway-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a0e7e55b2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a0e7e55b2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a0e7e55b2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a0e7e55b2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a0e7e55b2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a0e7e55b2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a0e7e55b2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a0e7e55b2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a0e7e55b2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a0e7e55b2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a0e7e55b2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a0e7e55b2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uscourts.gov/about-federal-courts/educational-resources/about-educational-outreach/activity-resources/what-does" TargetMode="External"/><Relationship Id="rId4" Type="http://schemas.openxmlformats.org/officeDocument/2006/relationships/hyperlink" Target="https://www.projectveritas.com/news/facebook-content-moderator-if-someone-is-wearing-a-maga-hat-i-am-going-to/" TargetMode="External"/><Relationship Id="rId5" Type="http://schemas.openxmlformats.org/officeDocument/2006/relationships/hyperlink" Target="https://www.vox.com/2018/8/6/17655658/alex-jones-facebook-youtube-conspiracy-theories" TargetMode="External"/><Relationship Id="rId6" Type="http://schemas.openxmlformats.org/officeDocument/2006/relationships/hyperlink" Target="https://www.acm.org/code-of-ethic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Ethical Issue in Social Media</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River Kelly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Freedom of Speech</a:t>
            </a:r>
            <a:endParaRPr/>
          </a:p>
        </p:txBody>
      </p:sp>
      <p:sp>
        <p:nvSpPr>
          <p:cNvPr id="93" name="Google Shape;93;p14"/>
          <p:cNvSpPr txBox="1"/>
          <p:nvPr>
            <p:ph idx="1" type="body"/>
          </p:nvPr>
        </p:nvSpPr>
        <p:spPr>
          <a:xfrm>
            <a:off x="729450" y="2078875"/>
            <a:ext cx="3958800" cy="2349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t>Includes:</a:t>
            </a:r>
            <a:endParaRPr sz="1200"/>
          </a:p>
          <a:p>
            <a:pPr indent="-304800" lvl="0" marL="457200" rtl="0" algn="l">
              <a:lnSpc>
                <a:spcPct val="100000"/>
              </a:lnSpc>
              <a:spcBef>
                <a:spcPts val="0"/>
              </a:spcBef>
              <a:spcAft>
                <a:spcPts val="0"/>
              </a:spcAft>
              <a:buSzPts val="1200"/>
              <a:buChar char="-"/>
            </a:pPr>
            <a:r>
              <a:rPr lang="en" sz="1200"/>
              <a:t>Not to speak (specifically, the right not to salute the flag)</a:t>
            </a:r>
            <a:endParaRPr sz="1200"/>
          </a:p>
          <a:p>
            <a:pPr indent="-304800" lvl="0" marL="457200" rtl="0" algn="l">
              <a:lnSpc>
                <a:spcPct val="100000"/>
              </a:lnSpc>
              <a:spcBef>
                <a:spcPts val="0"/>
              </a:spcBef>
              <a:spcAft>
                <a:spcPts val="0"/>
              </a:spcAft>
              <a:buSzPts val="1200"/>
              <a:buChar char="-"/>
            </a:pPr>
            <a:r>
              <a:rPr lang="en" sz="1200"/>
              <a:t>Of students to wear black armbands to school to protest a war</a:t>
            </a:r>
            <a:endParaRPr sz="1200"/>
          </a:p>
          <a:p>
            <a:pPr indent="-304800" lvl="0" marL="457200" rtl="0" algn="l">
              <a:lnSpc>
                <a:spcPct val="100000"/>
              </a:lnSpc>
              <a:spcBef>
                <a:spcPts val="0"/>
              </a:spcBef>
              <a:spcAft>
                <a:spcPts val="0"/>
              </a:spcAft>
              <a:buSzPts val="1200"/>
              <a:buChar char="-"/>
            </a:pPr>
            <a:r>
              <a:rPr lang="en" sz="1200"/>
              <a:t>To use certain offensive words and phrases to convey political messages</a:t>
            </a:r>
            <a:endParaRPr sz="1200"/>
          </a:p>
          <a:p>
            <a:pPr indent="-304800" lvl="0" marL="457200" rtl="0" algn="l">
              <a:lnSpc>
                <a:spcPct val="100000"/>
              </a:lnSpc>
              <a:spcBef>
                <a:spcPts val="0"/>
              </a:spcBef>
              <a:spcAft>
                <a:spcPts val="0"/>
              </a:spcAft>
              <a:buSzPts val="1200"/>
              <a:buChar char="-"/>
            </a:pPr>
            <a:r>
              <a:rPr lang="en" sz="1200"/>
              <a:t>To contribute money (under certain circumstances) to political campaigns</a:t>
            </a:r>
            <a:endParaRPr sz="1200"/>
          </a:p>
          <a:p>
            <a:pPr indent="-304800" lvl="0" marL="457200" rtl="0" algn="l">
              <a:lnSpc>
                <a:spcPct val="100000"/>
              </a:lnSpc>
              <a:spcBef>
                <a:spcPts val="0"/>
              </a:spcBef>
              <a:spcAft>
                <a:spcPts val="0"/>
              </a:spcAft>
              <a:buSzPts val="1200"/>
              <a:buChar char="-"/>
            </a:pPr>
            <a:r>
              <a:rPr lang="en" sz="1200"/>
              <a:t>To advertise commercial products and professional services</a:t>
            </a:r>
            <a:endParaRPr sz="1200"/>
          </a:p>
          <a:p>
            <a:pPr indent="-304800" lvl="0" marL="457200" rtl="0" algn="l">
              <a:lnSpc>
                <a:spcPct val="100000"/>
              </a:lnSpc>
              <a:spcBef>
                <a:spcPts val="0"/>
              </a:spcBef>
              <a:spcAft>
                <a:spcPts val="0"/>
              </a:spcAft>
              <a:buSzPts val="1200"/>
              <a:buChar char="-"/>
            </a:pPr>
            <a:r>
              <a:rPr lang="en" sz="1200"/>
              <a:t>To engage in symbolic speech</a:t>
            </a:r>
            <a:endParaRPr sz="1200"/>
          </a:p>
        </p:txBody>
      </p:sp>
      <p:sp>
        <p:nvSpPr>
          <p:cNvPr id="94" name="Google Shape;94;p14"/>
          <p:cNvSpPr txBox="1"/>
          <p:nvPr>
            <p:ph idx="1" type="body"/>
          </p:nvPr>
        </p:nvSpPr>
        <p:spPr>
          <a:xfrm>
            <a:off x="4846100" y="2078875"/>
            <a:ext cx="3990900" cy="23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Does NOT Include</a:t>
            </a:r>
            <a:r>
              <a:rPr lang="en"/>
              <a:t>:</a:t>
            </a:r>
            <a:endParaRPr/>
          </a:p>
          <a:p>
            <a:pPr indent="-311150" lvl="0" marL="457200" rtl="0" algn="l">
              <a:spcBef>
                <a:spcPts val="0"/>
              </a:spcBef>
              <a:spcAft>
                <a:spcPts val="0"/>
              </a:spcAft>
              <a:buSzPts val="1300"/>
              <a:buChar char="-"/>
            </a:pPr>
            <a:r>
              <a:rPr lang="en"/>
              <a:t>To incite actions that would harm others</a:t>
            </a:r>
            <a:endParaRPr/>
          </a:p>
          <a:p>
            <a:pPr indent="-311150" lvl="0" marL="457200" rtl="0" algn="l">
              <a:spcBef>
                <a:spcPts val="0"/>
              </a:spcBef>
              <a:spcAft>
                <a:spcPts val="0"/>
              </a:spcAft>
              <a:buSzPts val="1300"/>
              <a:buChar char="-"/>
            </a:pPr>
            <a:r>
              <a:rPr lang="en"/>
              <a:t>To make or distribute obscene materials</a:t>
            </a:r>
            <a:endParaRPr/>
          </a:p>
          <a:p>
            <a:pPr indent="-311150" lvl="0" marL="457200" rtl="0" algn="l">
              <a:spcBef>
                <a:spcPts val="0"/>
              </a:spcBef>
              <a:spcAft>
                <a:spcPts val="0"/>
              </a:spcAft>
              <a:buSzPts val="1300"/>
              <a:buChar char="-"/>
            </a:pPr>
            <a:r>
              <a:rPr lang="en"/>
              <a:t>To burn draft cards as an anti-war protest</a:t>
            </a:r>
            <a:endParaRPr/>
          </a:p>
          <a:p>
            <a:pPr indent="-311150" lvl="0" marL="457200" rtl="0" algn="l">
              <a:spcBef>
                <a:spcPts val="0"/>
              </a:spcBef>
              <a:spcAft>
                <a:spcPts val="0"/>
              </a:spcAft>
              <a:buSzPts val="1300"/>
              <a:buChar char="-"/>
            </a:pPr>
            <a:r>
              <a:rPr lang="en"/>
              <a:t>To permit students to print articles in a school newspaper over the objections of the school administration</a:t>
            </a:r>
            <a:endParaRPr/>
          </a:p>
          <a:p>
            <a:pPr indent="-311150" lvl="0" marL="457200" rtl="0" algn="l">
              <a:spcBef>
                <a:spcPts val="0"/>
              </a:spcBef>
              <a:spcAft>
                <a:spcPts val="0"/>
              </a:spcAft>
              <a:buSzPts val="1300"/>
              <a:buChar char="-"/>
            </a:pPr>
            <a:r>
              <a:rPr lang="en"/>
              <a:t>Of students to make an obscene speech at a school-sponsored event</a:t>
            </a:r>
            <a:endParaRPr/>
          </a:p>
          <a:p>
            <a:pPr indent="-311150" lvl="0" marL="457200" rtl="0" algn="l">
              <a:spcBef>
                <a:spcPts val="0"/>
              </a:spcBef>
              <a:spcAft>
                <a:spcPts val="0"/>
              </a:spcAft>
              <a:buSzPts val="1300"/>
              <a:buChar char="-"/>
            </a:pPr>
            <a:r>
              <a:rPr lang="en"/>
              <a:t>Of students to advocate illegal drug use at a school-sponsored event</a:t>
            </a:r>
            <a:endParaRPr/>
          </a:p>
        </p:txBody>
      </p:sp>
      <p:sp>
        <p:nvSpPr>
          <p:cNvPr id="95" name="Google Shape;95;p14"/>
          <p:cNvSpPr txBox="1"/>
          <p:nvPr/>
        </p:nvSpPr>
        <p:spPr>
          <a:xfrm>
            <a:off x="0" y="4818050"/>
            <a:ext cx="9144000" cy="3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666666"/>
                </a:solidFill>
              </a:rPr>
              <a:t>All information on this page: </a:t>
            </a:r>
            <a:r>
              <a:rPr b="1" i="1" lang="en" sz="1200">
                <a:solidFill>
                  <a:srgbClr val="666666"/>
                </a:solidFill>
              </a:rPr>
              <a:t>1, What Does Free Speech Mean?</a:t>
            </a:r>
            <a:endParaRPr b="1" i="1" sz="1200">
              <a:solidFill>
                <a:srgbClr val="6666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Facebook</a:t>
            </a:r>
            <a:endParaRPr/>
          </a:p>
        </p:txBody>
      </p:sp>
      <p:sp>
        <p:nvSpPr>
          <p:cNvPr id="101" name="Google Shape;101;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June 23, 2020, Project Veritas “released one of the most damning undercover investigation reports—this time insiders used hidden cameras to document rampant censorship occurring at social media giant: Facebook” (</a:t>
            </a:r>
            <a:r>
              <a:rPr b="1" i="1" lang="en"/>
              <a:t>Veritas</a:t>
            </a:r>
            <a:r>
              <a:rPr lang="en"/>
              <a:t>)</a:t>
            </a:r>
            <a:endParaRPr/>
          </a:p>
          <a:p>
            <a:pPr indent="-298450" lvl="1" marL="914400" rtl="0" algn="l">
              <a:spcBef>
                <a:spcPts val="1600"/>
              </a:spcBef>
              <a:spcAft>
                <a:spcPts val="0"/>
              </a:spcAft>
              <a:buSzPts val="1100"/>
              <a:buChar char="-"/>
            </a:pPr>
            <a:r>
              <a:rPr lang="en"/>
              <a:t>One of the content moderators was asked if she deleted every Republican item that came up on her queue, she said: “Yes! I don’t give no f*cks, I’ll delete it.” (</a:t>
            </a:r>
            <a:r>
              <a:rPr b="1" i="1" lang="en"/>
              <a:t>Veritas</a:t>
            </a:r>
            <a:r>
              <a:rPr lang="en"/>
              <a:t>)</a:t>
            </a:r>
            <a:endParaRPr/>
          </a:p>
          <a:p>
            <a:pPr indent="-311150" lvl="0" marL="457200" rtl="0" algn="l">
              <a:spcBef>
                <a:spcPts val="1600"/>
              </a:spcBef>
              <a:spcAft>
                <a:spcPts val="1600"/>
              </a:spcAft>
              <a:buSzPts val="1300"/>
              <a:buChar char="-"/>
            </a:pPr>
            <a:r>
              <a:rPr lang="en"/>
              <a:t>Facebook CEO Mark Zuckerberg testified before Congress that Facebook is a politically neutral platform. (</a:t>
            </a:r>
            <a:r>
              <a:rPr b="1" i="1" lang="en"/>
              <a:t>Veritas</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Jones - Infowars</a:t>
            </a:r>
            <a:endParaRPr/>
          </a:p>
        </p:txBody>
      </p:sp>
      <p:sp>
        <p:nvSpPr>
          <p:cNvPr id="107" name="Google Shape;107;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Facebook, Apple, Youtube and Spotify in the course of one week banned Alex Jones and his Infowars website</a:t>
            </a:r>
            <a:endParaRPr/>
          </a:p>
          <a:p>
            <a:pPr indent="-298450" lvl="1" marL="914400" rtl="0" algn="l">
              <a:spcBef>
                <a:spcPts val="1600"/>
              </a:spcBef>
              <a:spcAft>
                <a:spcPts val="0"/>
              </a:spcAft>
              <a:buSzPts val="1100"/>
              <a:buChar char="-"/>
            </a:pPr>
            <a:r>
              <a:rPr lang="en"/>
              <a:t>“one of the biggest purges of popular content by internet giants in recent memory.” (Coaston)</a:t>
            </a:r>
            <a:endParaRPr/>
          </a:p>
          <a:p>
            <a:pPr indent="-311150" lvl="0" marL="457200" rtl="0" algn="l">
              <a:spcBef>
                <a:spcPts val="1600"/>
              </a:spcBef>
              <a:spcAft>
                <a:spcPts val="0"/>
              </a:spcAft>
              <a:buSzPts val="1300"/>
              <a:buChar char="-"/>
            </a:pPr>
            <a:r>
              <a:rPr lang="en"/>
              <a:t>Alex has made a name for himself as a ‘Right-Wing’ conspiracy theorist</a:t>
            </a:r>
            <a:endParaRPr/>
          </a:p>
          <a:p>
            <a:pPr indent="-311150" lvl="0" marL="457200" rtl="0" algn="l">
              <a:spcBef>
                <a:spcPts val="1600"/>
              </a:spcBef>
              <a:spcAft>
                <a:spcPts val="0"/>
              </a:spcAft>
              <a:buSzPts val="1300"/>
              <a:buChar char="-"/>
            </a:pPr>
            <a:r>
              <a:rPr lang="en"/>
              <a:t>Alex was talking about the Jeffrey Epstein 20 years ago</a:t>
            </a:r>
            <a:endParaRPr/>
          </a:p>
          <a:p>
            <a:pPr indent="-311150" lvl="0" marL="457200" rtl="0" algn="l">
              <a:spcBef>
                <a:spcPts val="1600"/>
              </a:spcBef>
              <a:spcAft>
                <a:spcPts val="1600"/>
              </a:spcAft>
              <a:buSzPts val="1300"/>
              <a:buChar char="-"/>
            </a:pPr>
            <a:r>
              <a:rPr lang="en"/>
              <a:t>“It’s turning the frogs gay!”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230 vs Freedom of Association</a:t>
            </a:r>
            <a:endParaRPr/>
          </a:p>
        </p:txBody>
      </p:sp>
      <p:sp>
        <p:nvSpPr>
          <p:cNvPr id="113" name="Google Shape;113;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t>
            </a:r>
            <a:r>
              <a:rPr b="1" lang="en" sz="1050">
                <a:solidFill>
                  <a:srgbClr val="202122"/>
                </a:solidFill>
                <a:highlight>
                  <a:srgbClr val="FFFFFF"/>
                </a:highlight>
                <a:latin typeface="Arial"/>
                <a:ea typeface="Arial"/>
                <a:cs typeface="Arial"/>
                <a:sym typeface="Arial"/>
              </a:rPr>
              <a:t>Freedom of association</a:t>
            </a:r>
            <a:r>
              <a:rPr lang="en" sz="1050">
                <a:solidFill>
                  <a:srgbClr val="202122"/>
                </a:solidFill>
                <a:highlight>
                  <a:srgbClr val="FFFFFF"/>
                </a:highlight>
                <a:latin typeface="Arial"/>
                <a:ea typeface="Arial"/>
                <a:cs typeface="Arial"/>
                <a:sym typeface="Arial"/>
              </a:rPr>
              <a:t> encompasses both an individual's right to join or leave groups voluntarily, the right of the group to take collective action to pursue the interests of its members, and the right of an association to accept or decline membership based on certain criteria.” (Wikipedia)</a:t>
            </a:r>
            <a:endParaRPr/>
          </a:p>
          <a:p>
            <a:pPr indent="-311150" lvl="0" marL="457200" rtl="0" algn="l">
              <a:spcBef>
                <a:spcPts val="1600"/>
              </a:spcBef>
              <a:spcAft>
                <a:spcPts val="0"/>
              </a:spcAft>
              <a:buSzPts val="1300"/>
              <a:buChar char="-"/>
            </a:pPr>
            <a:r>
              <a:rPr lang="en"/>
              <a:t>On behalf of the Trump Administration, the Department of Justice sent draft legislation to Congress to reform Section 230 of the Communications Decency Act.</a:t>
            </a:r>
            <a:endParaRPr/>
          </a:p>
          <a:p>
            <a:pPr indent="-298450" lvl="1" marL="914400" rtl="0" algn="l">
              <a:spcBef>
                <a:spcPts val="1600"/>
              </a:spcBef>
              <a:spcAft>
                <a:spcPts val="0"/>
              </a:spcAft>
              <a:buSzPts val="1100"/>
              <a:buChar char="-"/>
            </a:pPr>
            <a:r>
              <a:rPr lang="en"/>
              <a:t>Promote transparency and open discourse</a:t>
            </a:r>
            <a:endParaRPr/>
          </a:p>
          <a:p>
            <a:pPr indent="-298450" lvl="1" marL="914400" rtl="0" algn="l">
              <a:spcBef>
                <a:spcPts val="1600"/>
              </a:spcBef>
              <a:spcAft>
                <a:spcPts val="1600"/>
              </a:spcAft>
              <a:buSzPts val="1100"/>
              <a:buChar char="-"/>
            </a:pPr>
            <a:r>
              <a:rPr lang="en"/>
              <a:t>Incentivizing platforms to address the growing amount of illicit content online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ACM Ethics</a:t>
            </a:r>
            <a:endParaRPr/>
          </a:p>
        </p:txBody>
      </p:sp>
      <p:sp>
        <p:nvSpPr>
          <p:cNvPr id="119" name="Google Shape;119;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1.3 Be honest and trustworthy</a:t>
            </a:r>
            <a:endParaRPr/>
          </a:p>
          <a:p>
            <a:pPr indent="-311150" lvl="0" marL="457200" rtl="0" algn="l">
              <a:spcBef>
                <a:spcPts val="1600"/>
              </a:spcBef>
              <a:spcAft>
                <a:spcPts val="1600"/>
              </a:spcAft>
              <a:buSzPts val="1300"/>
              <a:buChar char="-"/>
            </a:pPr>
            <a:r>
              <a:rPr lang="en"/>
              <a:t>1.4 Be fair and take action not to discriminate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Cited</a:t>
            </a:r>
            <a:endParaRPr/>
          </a:p>
        </p:txBody>
      </p:sp>
      <p:sp>
        <p:nvSpPr>
          <p:cNvPr id="125" name="Google Shape;125;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What Does Free Speech Mean? (2020). Retrieved October 12, 2020, from </a:t>
            </a:r>
            <a:r>
              <a:rPr lang="en" sz="1100" u="sng">
                <a:solidFill>
                  <a:srgbClr val="1155CC"/>
                </a:solidFill>
                <a:latin typeface="Arial"/>
                <a:ea typeface="Arial"/>
                <a:cs typeface="Arial"/>
                <a:sym typeface="Arial"/>
                <a:hlinkClick r:id="rId3">
                  <a:extLst>
                    <a:ext uri="{A12FA001-AC4F-418D-AE19-62706E023703}">
                      <ahyp:hlinkClr val="tx"/>
                    </a:ext>
                  </a:extLst>
                </a:hlinkClick>
              </a:rPr>
              <a:t>https://www.uscourts.gov/about-federal-courts/educational-resources/about-educational-outreach/activity-resources/what-does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Veritas, P. (2020, June 23). Facebook Content Moderator: 'If Someone is Wearing a MAGA Hat, I Am Going to Delete Them for Terrorism'. Retrieved October 12, 2020, from </a:t>
            </a:r>
            <a:r>
              <a:rPr lang="en" sz="1100" u="sng">
                <a:solidFill>
                  <a:srgbClr val="1155CC"/>
                </a:solidFill>
                <a:latin typeface="Arial"/>
                <a:ea typeface="Arial"/>
                <a:cs typeface="Arial"/>
                <a:sym typeface="Arial"/>
                <a:hlinkClick r:id="rId4">
                  <a:extLst>
                    <a:ext uri="{A12FA001-AC4F-418D-AE19-62706E023703}">
                      <ahyp:hlinkClr val="tx"/>
                    </a:ext>
                  </a:extLst>
                </a:hlinkClick>
              </a:rPr>
              <a:t>https://www.projectveritas.com/news/facebook-content-moderator-if-someone-is-wearing-a-maga-hat-i-am-going-to/</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Coaston, J. (2018, August 06). YouTube, Facebook, and Apple's ban on Alex Jones, explained. Retrieved October 12, 2020, from </a:t>
            </a:r>
            <a:r>
              <a:rPr lang="en" sz="1100" u="sng">
                <a:solidFill>
                  <a:srgbClr val="1155CC"/>
                </a:solidFill>
                <a:latin typeface="Arial"/>
                <a:ea typeface="Arial"/>
                <a:cs typeface="Arial"/>
                <a:sym typeface="Arial"/>
                <a:hlinkClick r:id="rId5">
                  <a:extLst>
                    <a:ext uri="{A12FA001-AC4F-418D-AE19-62706E023703}">
                      <ahyp:hlinkClr val="tx"/>
                    </a:ext>
                  </a:extLst>
                </a:hlinkClick>
              </a:rPr>
              <a:t>https://www.vox.com/2018/8/6/17655658/alex-jones-facebook-youtube-conspiracy-theories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lang="en" sz="1100">
                <a:solidFill>
                  <a:srgbClr val="000000"/>
                </a:solidFill>
                <a:latin typeface="Arial"/>
                <a:ea typeface="Arial"/>
                <a:cs typeface="Arial"/>
                <a:sym typeface="Arial"/>
              </a:rPr>
              <a:t>The Code affirms an obligation of computing professionals to use their skills for the benefit of society. (n.d.). Retrieved October 06, 2020, from </a:t>
            </a:r>
            <a:r>
              <a:rPr lang="en" sz="1100" u="sng">
                <a:solidFill>
                  <a:srgbClr val="1155CC"/>
                </a:solidFill>
                <a:latin typeface="Arial"/>
                <a:ea typeface="Arial"/>
                <a:cs typeface="Arial"/>
                <a:sym typeface="Arial"/>
                <a:hlinkClick r:id="rId6">
                  <a:extLst>
                    <a:ext uri="{A12FA001-AC4F-418D-AE19-62706E023703}">
                      <ahyp:hlinkClr val="tx"/>
                    </a:ext>
                  </a:extLst>
                </a:hlinkClick>
              </a:rPr>
              <a:t>https://www.acm.org/code-of-ethics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