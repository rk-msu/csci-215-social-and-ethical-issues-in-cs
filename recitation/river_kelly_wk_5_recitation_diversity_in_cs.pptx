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regular.fntdata"/><Relationship Id="rId14" Type="http://schemas.openxmlformats.org/officeDocument/2006/relationships/slide" Target="slides/slide9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Ralew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98fd5e51e5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98fd5e51e5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98fd5e51e5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98fd5e51e5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98fd5e51e5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98fd5e51e5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98fd5e51e5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98fd5e51e5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98fd5e51e5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98fd5e51e5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98fd5e51e5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98fd5e51e5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98fd5e51e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98fd5e51e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98fd5e51e5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98fd5e51e5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 in CS (Gender Gap in STEM) 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River Kelly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Gender in STEM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“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just over 40% of men listing a STEM course compared with roughly 19% of women.” (1)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074" y="2476525"/>
            <a:ext cx="2891500" cy="2261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2101" y="2441112"/>
            <a:ext cx="3024125" cy="2331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Gender in STEM</a:t>
            </a:r>
            <a:endParaRPr/>
          </a:p>
        </p:txBody>
      </p:sp>
      <p:sp>
        <p:nvSpPr>
          <p:cNvPr id="101" name="Google Shape;101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Explaining the Gender Gap in STEM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-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Differential general achievement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487050" y="4516250"/>
            <a:ext cx="30183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(1)-All info taken from VoxEU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Gender in STEM</a:t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Explaining the Gender Gap in STEM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-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Differential general achievement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Comparative advantage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7750" y="566349"/>
            <a:ext cx="2524000" cy="4099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 txBox="1"/>
          <p:nvPr/>
        </p:nvSpPr>
        <p:spPr>
          <a:xfrm>
            <a:off x="487050" y="4516250"/>
            <a:ext cx="30183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(1)-All info taken from VoxEU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Gender in STEM</a:t>
            </a:r>
            <a:endParaRPr/>
          </a:p>
        </p:txBody>
      </p:sp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Explaining the Gender Gap in STEM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-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Differential general achievement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Comparative advantage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Subject choices in secondary school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5923" y="937200"/>
            <a:ext cx="4571550" cy="372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7"/>
          <p:cNvSpPr txBox="1"/>
          <p:nvPr/>
        </p:nvSpPr>
        <p:spPr>
          <a:xfrm>
            <a:off x="487050" y="4516250"/>
            <a:ext cx="30183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(1)-All info taken from VoxEU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Closing the Gender Gap in STEM</a:t>
            </a:r>
            <a:endParaRPr/>
          </a:p>
        </p:txBody>
      </p:sp>
      <p:sp>
        <p:nvSpPr>
          <p:cNvPr id="124" name="Google Shape;124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Equality of Opportunity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“take affirmative action to ensure that applicants are employed, and employees are treated [fairly] during employment, without regard to their race, creed, color, or national origin". (2)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Equality of Outcome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1600"/>
              </a:spcAft>
              <a:buSzPts val="1100"/>
              <a:buChar char="-"/>
            </a:pPr>
            <a:r>
              <a:rPr lang="en"/>
              <a:t>Scandinavia, and other gender-equal countries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Unintended  Consequences</a:t>
            </a:r>
            <a:endParaRPr/>
          </a:p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Affirmative action</a:t>
            </a:r>
            <a:endParaRPr/>
          </a:p>
          <a:p>
            <a:pPr indent="-298450" lvl="1" marL="914400" rtl="0" algn="l">
              <a:spcBef>
                <a:spcPts val="160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“alleged that Harvard discriminated against Asian-American applicants by favoring black and Hispanic applicants in their admissions process.” (3)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-"/>
            </a:pPr>
            <a:r>
              <a:rPr lang="en" sz="1100"/>
              <a:t>Scandinavia experiment</a:t>
            </a:r>
            <a:endParaRPr sz="1100"/>
          </a:p>
          <a:p>
            <a:pPr indent="-298450" lvl="1" marL="914400" rtl="0" algn="l">
              <a:spcBef>
                <a:spcPts val="1600"/>
              </a:spcBef>
              <a:spcAft>
                <a:spcPts val="1600"/>
              </a:spcAft>
              <a:buSzPts val="1100"/>
              <a:buChar char="-"/>
            </a:pPr>
            <a:r>
              <a:rPr lang="en"/>
              <a:t>“</a:t>
            </a:r>
            <a:r>
              <a:rPr lang="en" sz="1200">
                <a:solidFill>
                  <a:srgbClr val="1E1E1E"/>
                </a:solidFill>
                <a:highlight>
                  <a:srgbClr val="FFFFFF"/>
                </a:highlight>
              </a:rPr>
              <a:t>more gender-equal countries produce comparatively fewer women in the STEM fields</a:t>
            </a:r>
            <a:r>
              <a:rPr lang="en"/>
              <a:t>” (5)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Closing the Gap</a:t>
            </a:r>
            <a:endParaRPr/>
          </a:p>
        </p:txBody>
      </p:sp>
      <p:sp>
        <p:nvSpPr>
          <p:cNvPr id="136" name="Google Shape;136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still do not have a clear answer to how to close the gender gap in STEM fields.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Jordan Peterson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Men like things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Women like people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 Cited</a:t>
            </a:r>
            <a:endParaRPr/>
          </a:p>
        </p:txBody>
      </p:sp>
      <p:sp>
        <p:nvSpPr>
          <p:cNvPr id="142" name="Google Shape;142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AutoNum type="arabicPeriod"/>
            </a:pPr>
            <a:r>
              <a:rPr lang="en" sz="900"/>
              <a:t>Delaney, Judith, and Paul Devereux. Understanding Gender Differences in STEM. 19 Apr. 2019, voxeu.org/article/understanding-gender-differences-stem. </a:t>
            </a:r>
            <a:endParaRPr sz="900"/>
          </a:p>
          <a:p>
            <a:pPr indent="-285750" lvl="0" marL="457200" rtl="0" algn="l">
              <a:spcBef>
                <a:spcPts val="1600"/>
              </a:spcBef>
              <a:spcAft>
                <a:spcPts val="0"/>
              </a:spcAft>
              <a:buSzPts val="900"/>
              <a:buAutoNum type="arabicPeriod"/>
            </a:pPr>
            <a:r>
              <a:rPr lang="en" sz="900"/>
              <a:t>“Affirmative Action.” Wikipedia, Wikimedia Foundation, 10 Sept. 2020, en.wikipedia.org/wiki/Affirmative_action. </a:t>
            </a:r>
            <a:endParaRPr sz="900"/>
          </a:p>
          <a:p>
            <a:pPr indent="-285750" lvl="0" marL="457200" rtl="0" algn="l">
              <a:spcBef>
                <a:spcPts val="1600"/>
              </a:spcBef>
              <a:spcAft>
                <a:spcPts val="0"/>
              </a:spcAft>
              <a:buSzPts val="900"/>
              <a:buAutoNum type="arabicPeriod"/>
            </a:pPr>
            <a:r>
              <a:rPr lang="en" sz="900"/>
              <a:t>“Judge Rules in Favor of Harvard in Divisive Affirmative Action Lawsuit.” The Stanford Daily, 4 Oct. 2019, www.stanforddaily.com/2019/10/03/judge-rules-in-favor-of-harvard-in-divisive-affirmative-action-lawsuit/. </a:t>
            </a:r>
            <a:endParaRPr sz="900"/>
          </a:p>
          <a:p>
            <a:pPr indent="-285750" lvl="0" marL="457200" rtl="0" algn="l">
              <a:spcBef>
                <a:spcPts val="1600"/>
              </a:spcBef>
              <a:spcAft>
                <a:spcPts val="0"/>
              </a:spcAft>
              <a:buSzPts val="900"/>
              <a:buAutoNum type="arabicPeriod"/>
            </a:pPr>
            <a:r>
              <a:rPr lang="en" sz="900"/>
              <a:t>Stoet, Gijsbert, and David C. Geary. “The Gender-Equality Paradox in Science, Technology, Engineering, and Mathematics Education.” Psychological Science, vol. 29, no. 4, 2018, pp. 581–593., doi:10.1177/0956797617741719. </a:t>
            </a:r>
            <a:endParaRPr sz="900"/>
          </a:p>
          <a:p>
            <a:pPr indent="-285750" lvl="0" marL="457200" rtl="0" algn="l">
              <a:spcBef>
                <a:spcPts val="1600"/>
              </a:spcBef>
              <a:spcAft>
                <a:spcPts val="1600"/>
              </a:spcAft>
              <a:buSzPts val="900"/>
              <a:buAutoNum type="arabicPeriod"/>
            </a:pPr>
            <a:r>
              <a:rPr lang="en" sz="900"/>
              <a:t>Peterson, Jordan. “The Gender Scandal: Part One (Scandinavia) and Part Two (Canada).” Jordan Peterson, 24 Feb. 2019, www.jordanbpeterson.com/political-correctness/the-gender-scandal-part-one-scandinavia-and-part-two-canada/.</a:t>
            </a:r>
            <a:endParaRPr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